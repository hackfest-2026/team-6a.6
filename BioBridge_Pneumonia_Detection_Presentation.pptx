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548640"/>
            <a:ext cx="1828800" cy="1828800"/>
          </a:xfrm>
          <a:prstGeom prst="ellipse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1463040"/>
            <a:ext cx="1005840" cy="1005840"/>
          </a:xfrm>
          <a:prstGeom prst="ellipse">
            <a:avLst/>
          </a:prstGeom>
          <a:solidFill>
            <a:srgbClr val="52C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3383280"/>
            <a:ext cx="2194560" cy="2194560"/>
          </a:xfrm>
          <a:prstGeom prst="ellipse">
            <a:avLst/>
          </a:prstGeom>
          <a:solidFill>
            <a:srgbClr val="1E4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73152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52CCD2"/>
                </a:solidFill>
                <a:latin typeface="Aptos"/>
              </a:rPr>
              <a:t>BIOBRIDGE | HACKATHON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8046720" cy="11430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ptos"/>
              </a:rPr>
              <a:t>AI-Assisted Pneumonia
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06040"/>
            <a:ext cx="7955279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700" b="0" i="0">
                <a:solidFill>
                  <a:srgbClr val="D3E2EB"/>
                </a:solidFill>
                <a:latin typeface="Aptos"/>
              </a:rPr>
              <a:t>Chest X-ray classification • Candidate-region localization • Biomarker context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7955279" cy="2148840"/>
          </a:xfrm>
          <a:prstGeom prst="roundRect">
            <a:avLst/>
          </a:prstGeom>
          <a:solidFill>
            <a:srgbClr val="1B3046"/>
          </a:solidFill>
          <a:ln>
            <a:solidFill>
              <a:srgbClr val="344F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3858768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52CCD2"/>
                </a:solidFill>
                <a:latin typeface="Aptos"/>
              </a:rPr>
              <a:t>PNEUMONIA — QUICK FACTS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4279392"/>
            <a:ext cx="7360920" cy="12344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ptos"/>
              </a:rPr>
              <a:t>• Infection/inflammation affecting the lung air sacs; causes include bacteria, viruses and fungi.
• Common symptoms: cough, fever, shortness of breath and chest discomfort.
• X-rays can show lung opacities; blood biomarkers may add context about inflammation.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236208"/>
            <a:ext cx="8229600" cy="201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 i="1">
                <a:solidFill>
                  <a:srgbClr val="B8CBD8"/>
                </a:solidFill>
                <a:latin typeface="Aptos"/>
              </a:rPr>
              <a:t>Research prototype — not a clinical diagnostic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4709160"/>
            <a:ext cx="228600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2500" b="1" i="0">
                <a:solidFill>
                  <a:srgbClr val="FFFFFF"/>
                </a:solidFill>
                <a:latin typeface="Aptos"/>
              </a:rPr>
              <a:t>BioBridge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600" b="1" i="0">
                <a:solidFill>
                  <a:srgbClr val="12233A"/>
                </a:solidFill>
                <a:latin typeface="Aptos"/>
              </a:rPr>
              <a:t>Problem &amp;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22376"/>
            <a:ext cx="1097280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009191"/>
                </a:solidFill>
                <a:latin typeface="Aptos"/>
              </a:rPr>
              <a:t>WHY AI-ASSISTED IMAGING?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1005840" cy="4572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68580" cy="182880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508760"/>
            <a:ext cx="3172968" cy="3474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12233A"/>
                </a:solidFill>
                <a:latin typeface="Aptos"/>
              </a:rPr>
              <a:t>Clinical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929384"/>
            <a:ext cx="3154680" cy="11704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263445"/>
                </a:solidFill>
                <a:latin typeface="Aptos"/>
              </a:rPr>
              <a:t>Pneumonia symptoms and imaging appearances can overlap with other conditions. Clinical interpretation needs context.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7160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371600"/>
            <a:ext cx="68580" cy="1828800"/>
          </a:xfrm>
          <a:prstGeom prst="rect">
            <a:avLst/>
          </a:prstGeom>
          <a:solidFill>
            <a:srgbClr val="52C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508760"/>
            <a:ext cx="3172968" cy="3474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12233A"/>
                </a:solidFill>
                <a:latin typeface="Aptos"/>
              </a:rPr>
              <a:t>Imaging opportunity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929384"/>
            <a:ext cx="3154680" cy="11704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263445"/>
                </a:solidFill>
                <a:latin typeface="Aptos"/>
              </a:rPr>
              <a:t>Chest X-rays are relatively fast, accessible and usually involve less radiation than CT for initial evaluation.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7160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371600"/>
            <a:ext cx="68580" cy="1828800"/>
          </a:xfrm>
          <a:prstGeom prst="rect">
            <a:avLst/>
          </a:prstGeom>
          <a:solidFill>
            <a:srgbClr val="ED9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508760"/>
            <a:ext cx="3172968" cy="3474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12233A"/>
                </a:solidFill>
                <a:latin typeface="Aptos"/>
              </a:rPr>
              <a:t>Biotech opportunity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1929384"/>
            <a:ext cx="3154680" cy="11704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263445"/>
                </a:solidFill>
                <a:latin typeface="Aptos"/>
              </a:rPr>
              <a:t>Laboratory markers reflect aspects of the body's immune and inflammatory response.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7033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000" b="1" i="0">
                <a:solidFill>
                  <a:srgbClr val="12233A"/>
                </a:solidFill>
                <a:latin typeface="Aptos"/>
              </a:rPr>
              <a:t>Project goal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160520"/>
            <a:ext cx="10332720" cy="10058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900" b="0" i="0">
                <a:solidFill>
                  <a:srgbClr val="263445"/>
                </a:solidFill>
                <a:latin typeface="Aptos"/>
              </a:rPr>
              <a:t>Build an interactive prototype that classifies chest X-rays, highlights candidate regions, and presents optional biomarker measurements in one interface.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532120"/>
            <a:ext cx="1033272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 i="0">
                <a:solidFill>
                  <a:srgbClr val="BF4A4A"/>
                </a:solidFill>
                <a:latin typeface="Aptos"/>
              </a:rPr>
              <a:t>Biomarkers are nonspecific; they cannot confirm or rule out pneumonia by themselves.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537960"/>
            <a:ext cx="1097280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800" b="0" i="0">
                <a:solidFill>
                  <a:srgbClr val="5F7080"/>
                </a:solidFill>
                <a:latin typeface="Aptos"/>
              </a:rPr>
              <a:t>BioBridge • Pneumonia Detection Prototype                                    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600" b="1" i="0">
                <a:solidFill>
                  <a:srgbClr val="12233A"/>
                </a:solidFill>
                <a:latin typeface="Aptos"/>
              </a:rPr>
              <a:t>Prototype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22376"/>
            <a:ext cx="1097280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009191"/>
                </a:solidFill>
                <a:latin typeface="Aptos"/>
              </a:rPr>
              <a:t>CURRENT IMPLEMENTATION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1005840" cy="4572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 i="0">
                <a:solidFill>
                  <a:srgbClr val="009191"/>
                </a:solidFill>
                <a:latin typeface="Aptos"/>
              </a:rPr>
              <a:t>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19659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A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737360"/>
            <a:ext cx="68580" cy="201168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874519"/>
            <a:ext cx="1618488" cy="3474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12233A"/>
                </a:solidFill>
                <a:latin typeface="Aptos"/>
              </a:rPr>
              <a:t>DICOM chest X-ray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295144"/>
            <a:ext cx="1600200" cy="135331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263445"/>
                </a:solidFill>
                <a:latin typeface="Aptos"/>
              </a:rPr>
              <a:t>RSNA image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50591" y="2514600"/>
            <a:ext cx="3200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2000" b="1" i="0">
                <a:solidFill>
                  <a:srgbClr val="009191"/>
                </a:solidFill>
                <a:latin typeface="Aptos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39" y="1371600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 i="0">
                <a:solidFill>
                  <a:srgbClr val="009191"/>
                </a:solidFill>
                <a:latin typeface="Aptos"/>
              </a:rPr>
              <a:t>02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39" y="1737360"/>
            <a:ext cx="19659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A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34639" y="1737360"/>
            <a:ext cx="68580" cy="2011680"/>
          </a:xfrm>
          <a:prstGeom prst="rect">
            <a:avLst/>
          </a:prstGeom>
          <a:solidFill>
            <a:srgbClr val="52C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35808" y="1874519"/>
            <a:ext cx="1618488" cy="3474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12233A"/>
                </a:solidFill>
                <a:latin typeface="Aptos"/>
              </a:rPr>
              <a:t>Image preparation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35808" y="2295144"/>
            <a:ext cx="1600200" cy="135331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263445"/>
                </a:solidFill>
                <a:latin typeface="Aptos"/>
              </a:rPr>
              <a:t>Pixel data and metadata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82312" y="2514600"/>
            <a:ext cx="3200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2000" b="1" i="0">
                <a:solidFill>
                  <a:srgbClr val="009191"/>
                </a:solidFill>
                <a:latin typeface="Aptos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59" y="1371600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 i="0">
                <a:solidFill>
                  <a:srgbClr val="009191"/>
                </a:solidFill>
                <a:latin typeface="Aptos"/>
              </a:rPr>
              <a:t>03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66359" y="1737360"/>
            <a:ext cx="19659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A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66359" y="1737360"/>
            <a:ext cx="68580" cy="2011680"/>
          </a:xfrm>
          <a:prstGeom prst="rect">
            <a:avLst/>
          </a:prstGeom>
          <a:solidFill>
            <a:srgbClr val="ED9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67527" y="1874519"/>
            <a:ext cx="1618488" cy="3474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12233A"/>
                </a:solidFill>
                <a:latin typeface="Aptos"/>
              </a:rPr>
              <a:t>EfficientNet-B0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67527" y="2295144"/>
            <a:ext cx="1600200" cy="135331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263445"/>
                </a:solidFill>
                <a:latin typeface="Aptos"/>
              </a:rPr>
              <a:t>Pneumonia probability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14031" y="2514600"/>
            <a:ext cx="3200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2000" b="1" i="0">
                <a:solidFill>
                  <a:srgbClr val="009191"/>
                </a:solidFill>
                <a:latin typeface="Aptos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1371600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 i="0">
                <a:solidFill>
                  <a:srgbClr val="009191"/>
                </a:solidFill>
                <a:latin typeface="Aptos"/>
              </a:rP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79" y="1737360"/>
            <a:ext cx="19659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A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98079" y="1737360"/>
            <a:ext cx="68580" cy="2011680"/>
          </a:xfrm>
          <a:prstGeom prst="rect">
            <a:avLst/>
          </a:prstGeom>
          <a:solidFill>
            <a:srgbClr val="BF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99248" y="1874519"/>
            <a:ext cx="1618488" cy="3474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12233A"/>
                </a:solidFill>
                <a:latin typeface="Aptos"/>
              </a:rPr>
              <a:t>YOLO detector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99248" y="2295144"/>
            <a:ext cx="1600200" cy="135331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263445"/>
                </a:solidFill>
                <a:latin typeface="Aptos"/>
              </a:rPr>
              <a:t>Candidate boxes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45751" y="2514600"/>
            <a:ext cx="3200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2000" b="1" i="0">
                <a:solidFill>
                  <a:srgbClr val="009191"/>
                </a:solidFill>
                <a:latin typeface="Aptos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9800" y="1371600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 i="0">
                <a:solidFill>
                  <a:srgbClr val="009191"/>
                </a:solidFill>
                <a:latin typeface="Aptos"/>
              </a:rPr>
              <a:t>05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829800" y="1737360"/>
            <a:ext cx="19659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A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829800" y="1737360"/>
            <a:ext cx="68580" cy="2011680"/>
          </a:xfrm>
          <a:prstGeom prst="rect">
            <a:avLst/>
          </a:prstGeom>
          <a:solidFill>
            <a:srgbClr val="338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30968" y="1874519"/>
            <a:ext cx="1618488" cy="3474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12233A"/>
                </a:solidFill>
                <a:latin typeface="Aptos"/>
              </a:rPr>
              <a:t>Gradio app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30968" y="2295144"/>
            <a:ext cx="1600200" cy="135331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263445"/>
                </a:solidFill>
                <a:latin typeface="Aptos"/>
              </a:rPr>
              <a:t>Cases + biomarker form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251960"/>
            <a:ext cx="1078992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12233A"/>
                </a:solidFill>
                <a:latin typeface="Aptos"/>
              </a:rPr>
              <a:t>Current state: the imaging pipeline and biomarker form are in one app, but their outputs are not fused into a single trained prediction.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212080"/>
            <a:ext cx="106984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5F7080"/>
                </a:solidFill>
                <a:latin typeface="Aptos"/>
              </a:rPr>
              <a:t>DICOM metadata may include age, sex and view position (AP/PA).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537960"/>
            <a:ext cx="1097280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800" b="0" i="0">
                <a:solidFill>
                  <a:srgbClr val="5F7080"/>
                </a:solidFill>
                <a:latin typeface="Aptos"/>
              </a:rPr>
              <a:t>BioBridge • Pneumonia Detection Prototype                                    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600" b="1" i="0">
                <a:solidFill>
                  <a:srgbClr val="12233A"/>
                </a:solidFill>
                <a:latin typeface="Aptos"/>
              </a:rPr>
              <a:t>Dataset &amp; Data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22376"/>
            <a:ext cx="1097280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009191"/>
                </a:solidFill>
                <a:latin typeface="Aptos"/>
              </a:rPr>
              <a:t>RSNA PNEUMONIA DETECTION CHALLENGE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1005840" cy="4572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53949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A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68580" cy="196596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508760"/>
            <a:ext cx="5047488" cy="3474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12233A"/>
                </a:solidFill>
                <a:latin typeface="Aptos"/>
              </a:rPr>
              <a:t>Data used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929384"/>
            <a:ext cx="5029200" cy="1307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263445"/>
                </a:solidFill>
                <a:latin typeface="Aptos"/>
              </a:rPr>
              <a:t>• Chest X-rays stored as DICOM
• CSV fields: patientId, Target, x, y, width, height
• Target labels and annotated bounding boxes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71600"/>
            <a:ext cx="52578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A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371600"/>
            <a:ext cx="68580" cy="1965960"/>
          </a:xfrm>
          <a:prstGeom prst="rect">
            <a:avLst/>
          </a:prstGeom>
          <a:solidFill>
            <a:srgbClr val="52C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7" y="1508760"/>
            <a:ext cx="4910328" cy="3474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12233A"/>
                </a:solidFill>
                <a:latin typeface="Aptos"/>
              </a:rPr>
              <a:t>Preparation tools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7" y="1929384"/>
            <a:ext cx="4892040" cy="1307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263445"/>
                </a:solidFill>
                <a:latin typeface="Aptos"/>
              </a:rPr>
              <a:t>• pydicom reads image pixels and DICOM tags
• PIL/Pillow handles image display
• CSV labels used to prepare detection examples
• Train/validation split used in development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749039"/>
            <a:ext cx="10515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000" b="1" i="0">
                <a:solidFill>
                  <a:srgbClr val="12233A"/>
                </a:solidFill>
                <a:latin typeface="Aptos"/>
              </a:rPr>
              <a:t>Dataset limitation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224528"/>
            <a:ext cx="1051560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800" b="0" i="0">
                <a:solidFill>
                  <a:srgbClr val="263445"/>
                </a:solidFill>
                <a:latin typeface="Aptos"/>
              </a:rPr>
              <a:t>RSNA does not provide linked CRP, procalcitonin, WBC and neutrophil measurements for multimodal training.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394960"/>
            <a:ext cx="1051560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 i="1">
                <a:solidFill>
                  <a:srgbClr val="5F7080"/>
                </a:solidFill>
                <a:latin typeface="Aptos"/>
              </a:rPr>
              <a:t>Demographic metadata is read from DICOM tags when present; it is not inferred from pixels.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537960"/>
            <a:ext cx="1097280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800" b="0" i="0">
                <a:solidFill>
                  <a:srgbClr val="5F7080"/>
                </a:solidFill>
                <a:latin typeface="Aptos"/>
              </a:rPr>
              <a:t>BioBridge • Pneumonia Detection Prototype                                    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600" b="1" i="0">
                <a:solidFill>
                  <a:srgbClr val="12233A"/>
                </a:solidFill>
                <a:latin typeface="Aptos"/>
              </a:rPr>
              <a:t>Models &amp; Technologies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22376"/>
            <a:ext cx="1097280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009191"/>
                </a:solidFill>
                <a:latin typeface="Aptos"/>
              </a:rPr>
              <a:t>ROLES IN THE PROTOTYPE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1005840" cy="4572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54406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A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68580" cy="169164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463039"/>
            <a:ext cx="5093208" cy="3474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12233A"/>
                </a:solidFill>
                <a:latin typeface="Aptos"/>
              </a:rPr>
              <a:t>EfficientNet-B0 • TensorFlow/Keras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883664"/>
            <a:ext cx="5074920" cy="10332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263445"/>
                </a:solidFill>
                <a:latin typeface="Aptos"/>
              </a:rPr>
              <a:t>Binary image classifier that estimates pneumonia probability. Demo threshold: 0.40 (40%).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25880"/>
            <a:ext cx="52578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A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325880"/>
            <a:ext cx="68580" cy="1691640"/>
          </a:xfrm>
          <a:prstGeom prst="rect">
            <a:avLst/>
          </a:prstGeom>
          <a:solidFill>
            <a:srgbClr val="ED9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7" y="1463039"/>
            <a:ext cx="4910328" cy="3474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12233A"/>
                </a:solidFill>
                <a:latin typeface="Aptos"/>
              </a:rPr>
              <a:t>YOLO • Ultralytics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7" y="1883664"/>
            <a:ext cx="4892040" cy="10332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263445"/>
                </a:solidFill>
                <a:latin typeface="Aptos"/>
              </a:rPr>
              <a:t>Object detector that marks candidate regions with bounding boxes; uses the improved best.pt checkpoint.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337560"/>
            <a:ext cx="54406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A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337560"/>
            <a:ext cx="68580" cy="1508760"/>
          </a:xfrm>
          <a:prstGeom prst="rect">
            <a:avLst/>
          </a:prstGeom>
          <a:solidFill>
            <a:srgbClr val="52C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474720"/>
            <a:ext cx="5093208" cy="3474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12233A"/>
                </a:solidFill>
                <a:latin typeface="Aptos"/>
              </a:rPr>
              <a:t>Gradio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895344"/>
            <a:ext cx="5074920" cy="8503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263445"/>
                </a:solidFill>
                <a:latin typeface="Aptos"/>
              </a:rPr>
              <a:t>Interactive web app with X-ray case selection and a separate biomarker panel.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337560"/>
            <a:ext cx="5257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A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3337560"/>
            <a:ext cx="68580" cy="1508760"/>
          </a:xfrm>
          <a:prstGeom prst="rect">
            <a:avLst/>
          </a:prstGeom>
          <a:solidFill>
            <a:srgbClr val="338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4807" y="3474720"/>
            <a:ext cx="4910328" cy="3474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12233A"/>
                </a:solidFill>
                <a:latin typeface="Aptos"/>
              </a:rPr>
              <a:t>pydicom + Pillow/PIL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7" y="3895344"/>
            <a:ext cx="4892040" cy="8503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263445"/>
                </a:solidFill>
                <a:latin typeface="Aptos"/>
              </a:rPr>
              <a:t>Read DICOM pixel data and metadata; prepare images for display.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303520"/>
            <a:ext cx="1042416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5F7080"/>
                </a:solidFill>
                <a:latin typeface="Aptos"/>
              </a:rPr>
              <a:t>Also used: Python, Google Colab, pandas/CSV, NumPy and standard image-processing utilities.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537960"/>
            <a:ext cx="1097280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800" b="0" i="0">
                <a:solidFill>
                  <a:srgbClr val="5F7080"/>
                </a:solidFill>
                <a:latin typeface="Aptos"/>
              </a:rPr>
              <a:t>BioBridge • Pneumonia Detection Prototype                                    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600" b="1" i="0">
                <a:solidFill>
                  <a:srgbClr val="12233A"/>
                </a:solidFill>
                <a:latin typeface="Aptos"/>
              </a:rPr>
              <a:t>Classifier: Validation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22376"/>
            <a:ext cx="1097280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009191"/>
                </a:solidFill>
                <a:latin typeface="Aptos"/>
              </a:rPr>
              <a:t>EFFICIENTNET-B0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1005840" cy="4572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5F7080"/>
                </a:solidFill>
                <a:latin typeface="Aptos"/>
              </a:rPr>
              <a:t>Metrics from the earlier held-out validation run; not clinical validation.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76272"/>
            <a:ext cx="22860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2500" b="1" i="0">
                <a:solidFill>
                  <a:srgbClr val="009191"/>
                </a:solidFill>
                <a:latin typeface="Aptos"/>
              </a:rPr>
              <a:t>74.1%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24912"/>
            <a:ext cx="22860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12233A"/>
                </a:solidFill>
                <a:latin typeface="Aptos"/>
              </a:rPr>
              <a:t>Accuracy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47872" y="1920240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9312" y="2176272"/>
            <a:ext cx="22860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2500" b="1" i="0">
                <a:solidFill>
                  <a:srgbClr val="009191"/>
                </a:solidFill>
                <a:latin typeface="Aptos"/>
              </a:rPr>
              <a:t>0.793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9312" y="2724912"/>
            <a:ext cx="22860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12233A"/>
                </a:solidFill>
                <a:latin typeface="Aptos"/>
              </a:rPr>
              <a:t>ROC–AUC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64224" y="1920240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5664" y="2176272"/>
            <a:ext cx="22860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2500" b="1" i="0">
                <a:solidFill>
                  <a:srgbClr val="009191"/>
                </a:solidFill>
                <a:latin typeface="Aptos"/>
              </a:rPr>
              <a:t>81.0%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5664" y="2724912"/>
            <a:ext cx="22860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12233A"/>
                </a:solidFill>
                <a:latin typeface="Aptos"/>
              </a:rPr>
              <a:t>Recall at 0.40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0576" y="1920240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72016" y="2176272"/>
            <a:ext cx="22860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2500" b="1" i="0">
                <a:solidFill>
                  <a:srgbClr val="009191"/>
                </a:solidFill>
                <a:latin typeface="Aptos"/>
              </a:rPr>
              <a:t>69.7%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72016" y="2724912"/>
            <a:ext cx="22860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12233A"/>
                </a:solidFill>
                <a:latin typeface="Aptos"/>
              </a:rPr>
              <a:t>Precision at 0.40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749039"/>
            <a:ext cx="10332720" cy="7772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0" i="0">
                <a:solidFill>
                  <a:srgbClr val="263445"/>
                </a:solidFill>
                <a:latin typeface="Aptos"/>
              </a:rPr>
              <a:t>At a 0.40 threshold, the demo labels a case “pneumonia” when predicted probability is ≥40%. Threshold choice changes sensitivity and specificity.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983480"/>
            <a:ext cx="10332720" cy="594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 i="0">
                <a:solidFill>
                  <a:srgbClr val="BF4A4A"/>
                </a:solidFill>
                <a:latin typeface="Aptos"/>
              </a:rPr>
              <a:t>Metrics depend on the validation split and evaluation method; they do not establish real-world diagnostic performance.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537960"/>
            <a:ext cx="1097280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800" b="0" i="0">
                <a:solidFill>
                  <a:srgbClr val="5F7080"/>
                </a:solidFill>
                <a:latin typeface="Aptos"/>
              </a:rPr>
              <a:t>BioBridge • Pneumonia Detection Prototype                                    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600" b="1" i="0">
                <a:solidFill>
                  <a:srgbClr val="12233A"/>
                </a:solidFill>
                <a:latin typeface="Aptos"/>
              </a:rPr>
              <a:t>YOLO: Candidate-Region Localization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22376"/>
            <a:ext cx="1097280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009191"/>
                </a:solidFill>
                <a:latin typeface="Aptos"/>
              </a:rPr>
              <a:t>IMPROVED DETECTOR CHECKPOINT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1005840" cy="4572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55648"/>
            <a:ext cx="22860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2500" b="1" i="0">
                <a:solidFill>
                  <a:srgbClr val="ED9B41"/>
                </a:solidFill>
                <a:latin typeface="Aptos"/>
              </a:rPr>
              <a:t>53.3%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04288"/>
            <a:ext cx="22860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12233A"/>
                </a:solidFill>
                <a:latin typeface="Aptos"/>
              </a:rPr>
              <a:t>Precision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47872" y="1508760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9312" y="1755648"/>
            <a:ext cx="22860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2500" b="1" i="0">
                <a:solidFill>
                  <a:srgbClr val="ED9B41"/>
                </a:solidFill>
                <a:latin typeface="Aptos"/>
              </a:rPr>
              <a:t>58.6%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9312" y="2304288"/>
            <a:ext cx="22860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12233A"/>
                </a:solidFill>
                <a:latin typeface="Aptos"/>
              </a:rPr>
              <a:t>Recall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64224" y="1508760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55664" y="1755648"/>
            <a:ext cx="22860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2500" b="1" i="0">
                <a:solidFill>
                  <a:srgbClr val="ED9B41"/>
                </a:solidFill>
                <a:latin typeface="Aptos"/>
              </a:rPr>
              <a:t>54.1%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2304288"/>
            <a:ext cx="22860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12233A"/>
                </a:solidFill>
                <a:latin typeface="Aptos"/>
              </a:rPr>
              <a:t>mAP@50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80576" y="1508760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72016" y="1755648"/>
            <a:ext cx="22860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2500" b="1" i="0">
                <a:solidFill>
                  <a:srgbClr val="ED9B41"/>
                </a:solidFill>
                <a:latin typeface="Aptos"/>
              </a:rPr>
              <a:t>21.4%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72016" y="2304288"/>
            <a:ext cx="22860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12233A"/>
                </a:solidFill>
                <a:latin typeface="Aptos"/>
              </a:rPr>
              <a:t>mAP@50–95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429000"/>
            <a:ext cx="10515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 i="0">
                <a:solidFill>
                  <a:srgbClr val="12233A"/>
                </a:solidFill>
                <a:latin typeface="Aptos"/>
              </a:rPr>
              <a:t>Validation set: 1,203 images and 1,934 annotated boxes.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977639"/>
            <a:ext cx="10332720" cy="8229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0" i="0">
                <a:solidFill>
                  <a:srgbClr val="263445"/>
                </a:solidFill>
                <a:latin typeface="Aptos"/>
              </a:rPr>
              <a:t>Boxes are candidate regions predicted by the detector—not confirmed disease boundaries. Localization is limited, especially at stricter overlap thresholds.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212080"/>
            <a:ext cx="1033272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 i="1">
                <a:solidFill>
                  <a:srgbClr val="5F7080"/>
                </a:solidFill>
                <a:latin typeface="Aptos"/>
              </a:rPr>
              <a:t>A later fine-tuning experiment performed worse, so the improved checkpoint was retained.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537960"/>
            <a:ext cx="1097280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800" b="0" i="0">
                <a:solidFill>
                  <a:srgbClr val="5F7080"/>
                </a:solidFill>
                <a:latin typeface="Aptos"/>
              </a:rPr>
              <a:t>BioBridge • Pneumonia Detection Prototype                                    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600" b="1" i="0">
                <a:solidFill>
                  <a:srgbClr val="12233A"/>
                </a:solidFill>
                <a:latin typeface="Aptos"/>
              </a:rPr>
              <a:t>Biomarker Panel: Biological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22376"/>
            <a:ext cx="1097280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009191"/>
                </a:solidFill>
                <a:latin typeface="Aptos"/>
              </a:rPr>
              <a:t>OPTIONAL MANUAL LABORATORY INPUTS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1005840" cy="4572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68580" cy="114300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508760"/>
            <a:ext cx="4910328" cy="3474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12233A"/>
                </a:solidFill>
                <a:latin typeface="Aptos"/>
              </a:rPr>
              <a:t>CRP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929384"/>
            <a:ext cx="4892040" cy="4846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263445"/>
                </a:solidFill>
                <a:latin typeface="Aptos"/>
              </a:rPr>
              <a:t>General inflammation marker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7160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371600"/>
            <a:ext cx="68580" cy="1143000"/>
          </a:xfrm>
          <a:prstGeom prst="rect">
            <a:avLst/>
          </a:prstGeom>
          <a:solidFill>
            <a:srgbClr val="52C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1508760"/>
            <a:ext cx="4910328" cy="3474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12233A"/>
                </a:solidFill>
                <a:latin typeface="Aptos"/>
              </a:rPr>
              <a:t>Procalcitonin (PCT)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1929384"/>
            <a:ext cx="4892040" cy="4846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263445"/>
                </a:solidFill>
                <a:latin typeface="Aptos"/>
              </a:rPr>
              <a:t>May add context for bacterial infection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78892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2788920"/>
            <a:ext cx="68580" cy="1143000"/>
          </a:xfrm>
          <a:prstGeom prst="rect">
            <a:avLst/>
          </a:prstGeom>
          <a:solidFill>
            <a:srgbClr val="ED9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2926079"/>
            <a:ext cx="4910328" cy="3474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12233A"/>
                </a:solidFill>
                <a:latin typeface="Aptos"/>
              </a:rPr>
              <a:t>WBC count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346703"/>
            <a:ext cx="4892040" cy="4846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263445"/>
                </a:solidFill>
                <a:latin typeface="Aptos"/>
              </a:rPr>
              <a:t>Total white blood cell count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78892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2788920"/>
            <a:ext cx="68580" cy="1143000"/>
          </a:xfrm>
          <a:prstGeom prst="rect">
            <a:avLst/>
          </a:prstGeom>
          <a:solidFill>
            <a:srgbClr val="338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8" y="2926079"/>
            <a:ext cx="4910328" cy="3474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12233A"/>
                </a:solidFill>
                <a:latin typeface="Aptos"/>
              </a:rPr>
              <a:t>Neutrophil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3346703"/>
            <a:ext cx="4892040" cy="4846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263445"/>
                </a:solidFill>
                <a:latin typeface="Aptos"/>
              </a:rPr>
              <a:t>Proportion of WBCs that are neutrophils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526280"/>
            <a:ext cx="1042416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0" i="0">
                <a:solidFill>
                  <a:srgbClr val="263445"/>
                </a:solidFill>
                <a:latin typeface="Aptos"/>
              </a:rPr>
              <a:t>Why include them? X-rays show lung appearance; biomarkers can reflect the body's inflammatory and immune response. The signals are complementary, but nonspecific.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486400"/>
            <a:ext cx="104241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BF4A4A"/>
                </a:solidFill>
                <a:latin typeface="Aptos"/>
              </a:rPr>
              <a:t>The current biomarker panel does not change the X-ray model output.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537960"/>
            <a:ext cx="1097280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800" b="0" i="0">
                <a:solidFill>
                  <a:srgbClr val="5F7080"/>
                </a:solidFill>
                <a:latin typeface="Aptos"/>
              </a:rPr>
              <a:t>BioBridge • Pneumonia Detection Prototype                                    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600" b="1" i="0">
                <a:solidFill>
                  <a:srgbClr val="12233A"/>
                </a:solidFill>
                <a:latin typeface="Aptos"/>
              </a:rPr>
              <a:t>What Is Connected Today?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22376"/>
            <a:ext cx="1097280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009191"/>
                </a:solidFill>
                <a:latin typeface="Aptos"/>
              </a:rPr>
              <a:t>CURRENT VS FUTURE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1005840" cy="4572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52578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A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68580" cy="2148840"/>
          </a:xfrm>
          <a:prstGeom prst="rect">
            <a:avLst/>
          </a:prstGeom>
          <a:solidFill>
            <a:srgbClr val="338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508760"/>
            <a:ext cx="4910328" cy="3474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12233A"/>
                </a:solidFill>
                <a:latin typeface="Aptos"/>
              </a:rPr>
              <a:t>Implemented 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929384"/>
            <a:ext cx="4892040" cy="14904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263445"/>
                </a:solidFill>
                <a:latin typeface="Aptos"/>
              </a:rPr>
              <a:t>✓ X-ray classification
✓ YOLO candidate boxes
✓ DICOM metadata display
✓ Biomarker input form
✓ Gradio interface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578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A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68580" cy="2148840"/>
          </a:xfrm>
          <a:prstGeom prst="rect">
            <a:avLst/>
          </a:prstGeom>
          <a:solidFill>
            <a:srgbClr val="ED9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508760"/>
            <a:ext cx="4910328" cy="3474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12233A"/>
                </a:solidFill>
                <a:latin typeface="Aptos"/>
              </a:rPr>
              <a:t>Not implemented yet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1929384"/>
            <a:ext cx="4892040" cy="14904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263445"/>
                </a:solidFill>
                <a:latin typeface="Aptos"/>
              </a:rPr>
              <a:t>• No same-patient image/lab linkage
• No trained multimodal fusion model
• No combined risk score
• No evidence of improved accuracy from biomarkers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023360"/>
            <a:ext cx="103327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000" b="1" i="0">
                <a:solidFill>
                  <a:srgbClr val="12233A"/>
                </a:solidFill>
                <a:latin typeface="Aptos"/>
              </a:rPr>
              <a:t>Next scientific step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480560"/>
            <a:ext cx="1033272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0" i="0">
                <a:solidFill>
                  <a:srgbClr val="263445"/>
                </a:solidFill>
                <a:latin typeface="Aptos"/>
              </a:rPr>
              <a:t>Find data containing X-rays, same-patient lab results and confirmed diagnoses; train a multimodal model and compare it with image-only performance on held-out patients.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537960"/>
            <a:ext cx="1097280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800" b="0" i="0">
                <a:solidFill>
                  <a:srgbClr val="5F7080"/>
                </a:solidFill>
                <a:latin typeface="Aptos"/>
              </a:rPr>
              <a:t>BioBridge • Pneumonia Detection Prototype                                    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600" b="1" i="0">
                <a:solidFill>
                  <a:srgbClr val="12233A"/>
                </a:solidFill>
                <a:latin typeface="Aptos"/>
              </a:rPr>
              <a:t>Interactive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22376"/>
            <a:ext cx="1097280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009191"/>
                </a:solidFill>
                <a:latin typeface="Aptos"/>
              </a:rPr>
              <a:t>GRADIO WEB APPLICATION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1005840" cy="4572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74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A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68580" cy="205740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508760"/>
            <a:ext cx="3127248" cy="3474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12233A"/>
                </a:solidFill>
                <a:latin typeface="Aptos"/>
              </a:rPr>
              <a:t>X-ray Cases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929384"/>
            <a:ext cx="3108960" cy="1399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263445"/>
                </a:solidFill>
                <a:latin typeface="Aptos"/>
              </a:rPr>
              <a:t>Select a case to view the radiograph, classifier result and YOLO candidate boxes.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371600"/>
            <a:ext cx="3474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A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0832" y="1371600"/>
            <a:ext cx="68580" cy="2057400"/>
          </a:xfrm>
          <a:prstGeom prst="rect">
            <a:avLst/>
          </a:prstGeom>
          <a:solidFill>
            <a:srgbClr val="52C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508760"/>
            <a:ext cx="3127248" cy="3474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12233A"/>
                </a:solidFill>
                <a:latin typeface="Aptos"/>
              </a:rPr>
              <a:t>Case metadata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929384"/>
            <a:ext cx="3108960" cy="1399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263445"/>
                </a:solidFill>
                <a:latin typeface="Aptos"/>
              </a:rPr>
              <a:t>Age, sex and view position can be read from DICOM tags where available.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1371600"/>
            <a:ext cx="3474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A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10144" y="1371600"/>
            <a:ext cx="68580" cy="2057400"/>
          </a:xfrm>
          <a:prstGeom prst="rect">
            <a:avLst/>
          </a:prstGeom>
          <a:solidFill>
            <a:srgbClr val="ED9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2" y="1508760"/>
            <a:ext cx="3127248" cy="3474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12233A"/>
                </a:solidFill>
                <a:latin typeface="Aptos"/>
              </a:rPr>
              <a:t>Biomarker Panel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1929384"/>
            <a:ext cx="3108960" cy="1399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263445"/>
                </a:solidFill>
                <a:latin typeface="Aptos"/>
              </a:rPr>
              <a:t>Enter lab values for educational context; they do not change the AI result.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069080"/>
            <a:ext cx="10241280" cy="685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12233A"/>
                </a:solidFill>
                <a:latin typeface="Aptos"/>
              </a:rPr>
              <a:t>Design principle: distinguish model predictions from clinical facts and display a research-only disclaimer.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074920"/>
            <a:ext cx="1024128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 i="1">
                <a:solidFill>
                  <a:srgbClr val="5F7080"/>
                </a:solidFill>
                <a:latin typeface="Aptos"/>
              </a:rPr>
              <a:t>The share link is temporary and may stop working when the Colab runtime ends.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537960"/>
            <a:ext cx="1097280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800" b="0" i="0">
                <a:solidFill>
                  <a:srgbClr val="5F7080"/>
                </a:solidFill>
                <a:latin typeface="Aptos"/>
              </a:rPr>
              <a:t>BioBridge • Pneumonia Detection Prototype                                 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600" b="1" i="0">
                <a:solidFill>
                  <a:srgbClr val="12233A"/>
                </a:solidFill>
                <a:latin typeface="Aptos"/>
              </a:rPr>
              <a:t>Limitations &amp; Responsible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22376"/>
            <a:ext cx="1097280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009191"/>
                </a:solidFill>
                <a:latin typeface="Aptos"/>
              </a:rPr>
              <a:t>WHAT THIS PROTOTYPE CAN AND CANNOT CLAIM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1005840" cy="4572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 lIns="54864" rIns="45720" tIns="27432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63445"/>
                </a:solidFill>
                <a:latin typeface="Aptos"/>
              </a:defRPr>
            </a:pPr>
            <a:r>
              <a:t>Research prototype only—not for diagnosis, treatment decisions or emergency triage.</a:t>
            </a:r>
          </a:p>
          <a:p>
            <a:pPr>
              <a:spcAft>
                <a:spcPts val="1200"/>
              </a:spcAft>
              <a:defRPr sz="1600">
                <a:solidFill>
                  <a:srgbClr val="263445"/>
                </a:solidFill>
                <a:latin typeface="Aptos"/>
              </a:defRPr>
            </a:pPr>
            <a:r>
              <a:t>RSNA performance may not generalize to other hospitals, scanners or patient populations.</a:t>
            </a:r>
          </a:p>
          <a:p>
            <a:pPr>
              <a:spcAft>
                <a:spcPts val="1200"/>
              </a:spcAft>
              <a:defRPr sz="1600">
                <a:solidFill>
                  <a:srgbClr val="263445"/>
                </a:solidFill>
                <a:latin typeface="Aptos"/>
              </a:defRPr>
            </a:pPr>
            <a:r>
              <a:t>YOLO boxes may be inaccurate or miss relevant findings.</a:t>
            </a:r>
          </a:p>
          <a:p>
            <a:pPr>
              <a:spcAft>
                <a:spcPts val="1200"/>
              </a:spcAft>
              <a:defRPr sz="1600">
                <a:solidFill>
                  <a:srgbClr val="263445"/>
                </a:solidFill>
                <a:latin typeface="Aptos"/>
              </a:defRPr>
            </a:pPr>
            <a:r>
              <a:t>Biomarkers are nonspecific and depend on timing and clinical context.</a:t>
            </a:r>
          </a:p>
          <a:p>
            <a:pPr>
              <a:spcAft>
                <a:spcPts val="1200"/>
              </a:spcAft>
              <a:defRPr sz="1600">
                <a:solidFill>
                  <a:srgbClr val="263445"/>
                </a:solidFill>
                <a:latin typeface="Aptos"/>
              </a:defRPr>
            </a:pPr>
            <a:r>
              <a:t>No linked biomarker dataset was used to train or validate a combined model.</a:t>
            </a:r>
          </a:p>
          <a:p>
            <a:pPr>
              <a:spcAft>
                <a:spcPts val="1200"/>
              </a:spcAft>
              <a:defRPr sz="1600">
                <a:solidFill>
                  <a:srgbClr val="263445"/>
                </a:solidFill>
                <a:latin typeface="Aptos"/>
              </a:defRPr>
            </a:pPr>
            <a:r>
              <a:t>Clinical use would require external validation, calibration, bias evaluation and expert oversight.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1097280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800" b="0" i="0">
                <a:solidFill>
                  <a:srgbClr val="5F7080"/>
                </a:solidFill>
                <a:latin typeface="Aptos"/>
              </a:rPr>
              <a:t>BioBridge • Pneumonia Detection Prototype                                  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070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52CCD2"/>
                </a:solidFill>
                <a:latin typeface="Aptos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7772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Aptos"/>
              </a:rPr>
              <a:t>BioBridge brings imaging and laboratory context into one prototype.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423160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A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423160"/>
            <a:ext cx="68580" cy="173736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560320"/>
            <a:ext cx="3081528" cy="3474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12233A"/>
                </a:solidFill>
                <a:latin typeface="Aptos"/>
              </a:rPr>
              <a:t>What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980944"/>
            <a:ext cx="3063240" cy="10789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263445"/>
                </a:solidFill>
                <a:latin typeface="Aptos"/>
              </a:rPr>
              <a:t>X-ray classification, candidate boxes and a biomarker input panel.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423160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A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2423160"/>
            <a:ext cx="68580" cy="1737360"/>
          </a:xfrm>
          <a:prstGeom prst="rect">
            <a:avLst/>
          </a:prstGeom>
          <a:solidFill>
            <a:srgbClr val="52C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2560320"/>
            <a:ext cx="3081528" cy="3474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12233A"/>
                </a:solidFill>
                <a:latin typeface="Aptos"/>
              </a:rPr>
              <a:t>What it demonstrates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2980944"/>
            <a:ext cx="3063240" cy="10789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263445"/>
                </a:solidFill>
                <a:latin typeface="Aptos"/>
              </a:rPr>
              <a:t>A pathway toward multimodal pneumonia decision support.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423160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A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2423160"/>
            <a:ext cx="68580" cy="1737360"/>
          </a:xfrm>
          <a:prstGeom prst="rect">
            <a:avLst/>
          </a:prstGeom>
          <a:solidFill>
            <a:srgbClr val="ED9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7888" y="2560320"/>
            <a:ext cx="3081528" cy="3474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12233A"/>
                </a:solidFill>
                <a:latin typeface="Aptos"/>
              </a:rPr>
              <a:t>What comes next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2980944"/>
            <a:ext cx="3063240" cy="10789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263445"/>
                </a:solidFill>
                <a:latin typeface="Aptos"/>
              </a:rPr>
              <a:t>Linked clinical data, multimodal training and rigorous validation.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92040"/>
            <a:ext cx="105156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715000"/>
            <a:ext cx="10515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000" b="0" i="0">
                <a:solidFill>
                  <a:srgbClr val="B8CBD8"/>
                </a:solidFill>
                <a:latin typeface="Aptos"/>
              </a:rPr>
              <a:t>BioBridge • Research prototype • Not a clinical diagnostic tool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600" b="1" i="0">
                <a:solidFill>
                  <a:srgbClr val="12233A"/>
                </a:solidFill>
                <a:latin typeface="Aptos"/>
              </a:rPr>
              <a:t>Tools, Dataset &amp;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22376"/>
            <a:ext cx="1097280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009191"/>
                </a:solidFill>
                <a:latin typeface="Aptos"/>
              </a:rPr>
              <a:t>TECHNICAL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1005840" cy="4572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53949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A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68580" cy="192024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417319"/>
            <a:ext cx="5047488" cy="3474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12233A"/>
                </a:solidFill>
                <a:latin typeface="Aptos"/>
              </a:rPr>
              <a:t>Core software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837943"/>
            <a:ext cx="5029200" cy="12618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263445"/>
                </a:solidFill>
                <a:latin typeface="Aptos"/>
              </a:rPr>
              <a:t>• Google Colab / Python
• TensorFlow + Keras (EfficientNet-B0)
• Ultralytics YOLO
• Gradio, pydicom, Pillow/PIL
• pandas / NumPy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280160"/>
            <a:ext cx="52578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A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280160"/>
            <a:ext cx="68580" cy="1920240"/>
          </a:xfrm>
          <a:prstGeom prst="rect">
            <a:avLst/>
          </a:prstGeom>
          <a:solidFill>
            <a:srgbClr val="52C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7" y="1417319"/>
            <a:ext cx="4910328" cy="3474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12233A"/>
                </a:solidFill>
                <a:latin typeface="Aptos"/>
              </a:rPr>
              <a:t>Data &amp; future research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7" y="1837943"/>
            <a:ext cx="4892040" cy="12618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263445"/>
                </a:solidFill>
                <a:latin typeface="Aptos"/>
              </a:rPr>
              <a:t>• RSNA Pneumonia Detection Challenge
• CSV annotations and DICOM metadata
• MIMIC-CXR as a possible future data source (access requirements apply)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042416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12233A"/>
                </a:solidFill>
                <a:latin typeface="Aptos"/>
              </a:rPr>
              <a:t>Useful links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515600" cy="1417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263445"/>
                </a:solidFill>
                <a:latin typeface="Aptos"/>
              </a:rPr>
              <a:t>RSNA challenge: https://www.kaggle.com/c/rsna-pneumonia-detection-challenge
WHO pneumonia: https://www.who.int/news-room/fact-sheets/detail/pneumonia
MIMIC-CXR: https://physionet.org/content/mimic-cxr/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715000"/>
            <a:ext cx="1042416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 i="1">
                <a:solidFill>
                  <a:srgbClr val="5F7080"/>
                </a:solidFill>
                <a:latin typeface="Aptos"/>
              </a:rPr>
              <a:t>Confirm metrics against saved logs before formal publication or external claims.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537960"/>
            <a:ext cx="1097280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800" b="0" i="0">
                <a:solidFill>
                  <a:srgbClr val="5F7080"/>
                </a:solidFill>
                <a:latin typeface="Aptos"/>
              </a:rPr>
              <a:t>BioBridge • Pneumonia Detection Prototype                                     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